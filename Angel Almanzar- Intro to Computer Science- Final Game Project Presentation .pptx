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Merriweath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erriweather-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erriweather-italic.fntdata"/><Relationship Id="rId14" Type="http://schemas.openxmlformats.org/officeDocument/2006/relationships/font" Target="fonts/Merriweather-bold.fntdata"/><Relationship Id="rId16"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057b3a8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057b3a8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d057b3a89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d057b3a89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d057b3a89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d057b3a89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d057b3a8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d057b3a89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057b3a89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057b3a89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d057b3a89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d057b3a89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80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latin typeface="Merriweather"/>
                <a:ea typeface="Merriweather"/>
                <a:cs typeface="Merriweather"/>
                <a:sym typeface="Merriweather"/>
              </a:rPr>
              <a:t>Final Game-Hue </a:t>
            </a:r>
            <a:r>
              <a:rPr lang="en">
                <a:latin typeface="Merriweather"/>
                <a:ea typeface="Merriweather"/>
                <a:cs typeface="Merriweather"/>
                <a:sym typeface="Merriweather"/>
              </a:rPr>
              <a:t>Hopping Prism Game </a:t>
            </a:r>
            <a:endParaRPr>
              <a:latin typeface="Merriweather"/>
              <a:ea typeface="Merriweather"/>
              <a:cs typeface="Merriweather"/>
              <a:sym typeface="Merriweather"/>
            </a:endParaRPr>
          </a:p>
        </p:txBody>
      </p:sp>
      <p:sp>
        <p:nvSpPr>
          <p:cNvPr id="55" name="Google Shape;55;p13"/>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Merriweather"/>
                <a:ea typeface="Merriweather"/>
                <a:cs typeface="Merriweather"/>
                <a:sym typeface="Merriweather"/>
              </a:rPr>
              <a:t>By</a:t>
            </a:r>
            <a:r>
              <a:rPr lang="en">
                <a:solidFill>
                  <a:schemeClr val="lt1"/>
                </a:solidFill>
                <a:latin typeface="Merriweather"/>
                <a:ea typeface="Merriweather"/>
                <a:cs typeface="Merriweather"/>
                <a:sym typeface="Merriweather"/>
              </a:rPr>
              <a:t> Angel </a:t>
            </a:r>
            <a:r>
              <a:rPr lang="en">
                <a:solidFill>
                  <a:schemeClr val="dk1"/>
                </a:solidFill>
                <a:latin typeface="Merriweather"/>
                <a:ea typeface="Merriweather"/>
                <a:cs typeface="Merriweather"/>
                <a:sym typeface="Merriweather"/>
              </a:rPr>
              <a:t>Almanzar </a:t>
            </a:r>
            <a:endParaRPr>
              <a:solidFill>
                <a:schemeClr val="dk1"/>
              </a:solidFill>
              <a:latin typeface="Merriweather"/>
              <a:ea typeface="Merriweather"/>
              <a:cs typeface="Merriweather"/>
              <a:sym typeface="Merriweather"/>
            </a:endParaRPr>
          </a:p>
        </p:txBody>
      </p:sp>
      <p:pic>
        <p:nvPicPr>
          <p:cNvPr id="56" name="Google Shape;56;p13"/>
          <p:cNvPicPr preferRelativeResize="0"/>
          <p:nvPr/>
        </p:nvPicPr>
        <p:blipFill>
          <a:blip r:embed="rId3">
            <a:alphaModFix/>
          </a:blip>
          <a:stretch>
            <a:fillRect/>
          </a:stretch>
        </p:blipFill>
        <p:spPr>
          <a:xfrm>
            <a:off x="3266925" y="3242000"/>
            <a:ext cx="2294450" cy="1746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FF"/>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Merriweather"/>
                <a:ea typeface="Merriweather"/>
                <a:cs typeface="Merriweather"/>
                <a:sym typeface="Merriweather"/>
              </a:rPr>
              <a:t>How does </a:t>
            </a:r>
            <a:r>
              <a:rPr lang="en">
                <a:solidFill>
                  <a:srgbClr val="FF0000"/>
                </a:solidFill>
                <a:latin typeface="Merriweather"/>
                <a:ea typeface="Merriweather"/>
                <a:cs typeface="Merriweather"/>
                <a:sym typeface="Merriweather"/>
              </a:rPr>
              <a:t>this game work? Here are the details…</a:t>
            </a:r>
            <a:endParaRPr>
              <a:solidFill>
                <a:srgbClr val="FF0000"/>
              </a:solidFill>
              <a:latin typeface="Merriweather"/>
              <a:ea typeface="Merriweather"/>
              <a:cs typeface="Merriweather"/>
              <a:sym typeface="Merriweather"/>
            </a:endParaRPr>
          </a:p>
        </p:txBody>
      </p:sp>
      <p:sp>
        <p:nvSpPr>
          <p:cNvPr id="62" name="Google Shape;62;p14"/>
          <p:cNvSpPr txBox="1"/>
          <p:nvPr>
            <p:ph idx="1" type="body"/>
          </p:nvPr>
        </p:nvSpPr>
        <p:spPr>
          <a:xfrm>
            <a:off x="155000" y="1152475"/>
            <a:ext cx="8854200" cy="3878400"/>
          </a:xfrm>
          <a:prstGeom prst="rect">
            <a:avLst/>
          </a:prstGeom>
        </p:spPr>
        <p:txBody>
          <a:bodyPr anchorCtr="0" anchor="t" bIns="91425" lIns="91425" spcFirstLastPara="1" rIns="91425" wrap="square" tIns="91425">
            <a:normAutofit lnSpcReduction="20000"/>
          </a:bodyPr>
          <a:lstStyle/>
          <a:p>
            <a:pPr indent="457200" lvl="0" marL="0" rtl="0" algn="l">
              <a:spcBef>
                <a:spcPts val="0"/>
              </a:spcBef>
              <a:spcAft>
                <a:spcPts val="0"/>
              </a:spcAft>
              <a:buClr>
                <a:schemeClr val="dk1"/>
              </a:buClr>
              <a:buSzPts val="1100"/>
              <a:buFont typeface="Arial"/>
              <a:buNone/>
            </a:pPr>
            <a:r>
              <a:rPr lang="en" sz="1100">
                <a:solidFill>
                  <a:schemeClr val="lt1"/>
                </a:solidFill>
                <a:latin typeface="Merriweather"/>
                <a:ea typeface="Merriweather"/>
                <a:cs typeface="Merriweather"/>
                <a:sym typeface="Merriweather"/>
              </a:rPr>
              <a:t>“Hue Hopping Prism Game” is an original thought out game of mine inspired by games like “Beat Stomper” and “Smash Hit”. Two games I loved playing as a kid. The game is a physics based game that I was inspired to make after trying a physics game online. </a:t>
            </a:r>
            <a:r>
              <a:rPr lang="en" sz="1100">
                <a:solidFill>
                  <a:srgbClr val="FF0000"/>
                </a:solidFill>
                <a:latin typeface="Merriweather"/>
                <a:ea typeface="Merriweather"/>
                <a:cs typeface="Merriweather"/>
                <a:sym typeface="Merriweather"/>
              </a:rPr>
              <a:t>The players control a ball that jumps and moves in different directions, across a colorful background. The goal of this simple and very easy game is to avoid the moving platforms (obstacles),you can adjust the ball speed and background color change speed while aiming for a high jump count.   </a:t>
            </a:r>
            <a:endParaRPr sz="1100">
              <a:solidFill>
                <a:srgbClr val="FF0000"/>
              </a:solidFill>
              <a:latin typeface="Merriweather"/>
              <a:ea typeface="Merriweather"/>
              <a:cs typeface="Merriweather"/>
              <a:sym typeface="Merriweather"/>
            </a:endParaRPr>
          </a:p>
          <a:p>
            <a:pPr indent="0" lvl="0" marL="0" rtl="0" algn="l">
              <a:spcBef>
                <a:spcPts val="0"/>
              </a:spcBef>
              <a:spcAft>
                <a:spcPts val="0"/>
              </a:spcAft>
              <a:buClr>
                <a:schemeClr val="dk1"/>
              </a:buClr>
              <a:buSzPts val="1100"/>
              <a:buFont typeface="Arial"/>
              <a:buNone/>
            </a:pPr>
            <a:r>
              <a:t/>
            </a:r>
            <a:endParaRPr sz="1100">
              <a:solidFill>
                <a:srgbClr val="FF0000"/>
              </a:solidFill>
              <a:latin typeface="Merriweather"/>
              <a:ea typeface="Merriweather"/>
              <a:cs typeface="Merriweather"/>
              <a:sym typeface="Merriweather"/>
            </a:endParaRPr>
          </a:p>
          <a:p>
            <a:pPr indent="457200" lvl="0" marL="0" rtl="0" algn="l">
              <a:spcBef>
                <a:spcPts val="0"/>
              </a:spcBef>
              <a:spcAft>
                <a:spcPts val="0"/>
              </a:spcAft>
              <a:buClr>
                <a:schemeClr val="dk1"/>
              </a:buClr>
              <a:buSzPts val="1100"/>
              <a:buFont typeface="Arial"/>
              <a:buNone/>
            </a:pPr>
            <a:r>
              <a:rPr lang="en" sz="1100">
                <a:solidFill>
                  <a:srgbClr val="FF0000"/>
                </a:solidFill>
                <a:latin typeface="Merriweather"/>
                <a:ea typeface="Merriweather"/>
                <a:cs typeface="Merriweather"/>
                <a:sym typeface="Merriweather"/>
              </a:rPr>
              <a:t>When getting a high jump count and it is over, the game says you have a new high score. There are no characters in this game, I just have objects in the game.</a:t>
            </a:r>
            <a:r>
              <a:rPr lang="en" sz="1100">
                <a:solidFill>
                  <a:schemeClr val="lt1"/>
                </a:solidFill>
                <a:latin typeface="Merriweather"/>
                <a:ea typeface="Merriweather"/>
                <a:cs typeface="Merriweather"/>
                <a:sym typeface="Merriweather"/>
              </a:rPr>
              <a:t> The game is set with a plain colorful background, the colors are a part of the game's setting to make it feel fun. There are some help options displayed on the screen. </a:t>
            </a:r>
            <a:endParaRPr sz="1100">
              <a:solidFill>
                <a:schemeClr val="lt1"/>
              </a:solidFill>
              <a:latin typeface="Merriweather"/>
              <a:ea typeface="Merriweather"/>
              <a:cs typeface="Merriweather"/>
              <a:sym typeface="Merriweather"/>
            </a:endParaRPr>
          </a:p>
          <a:p>
            <a:pPr indent="-317500" lvl="0" marL="457200" rtl="0" algn="l">
              <a:spcBef>
                <a:spcPts val="0"/>
              </a:spcBef>
              <a:spcAft>
                <a:spcPts val="0"/>
              </a:spcAft>
              <a:buClr>
                <a:schemeClr val="lt1"/>
              </a:buClr>
              <a:buSzPts val="1400"/>
              <a:buFont typeface="Merriweather"/>
              <a:buChar char="●"/>
            </a:pPr>
            <a:r>
              <a:rPr lang="en" sz="1400">
                <a:solidFill>
                  <a:schemeClr val="lt1"/>
                </a:solidFill>
                <a:latin typeface="Merriweather"/>
                <a:ea typeface="Merriweather"/>
                <a:cs typeface="Merriweather"/>
                <a:sym typeface="Merriweather"/>
              </a:rPr>
              <a:t>Players control the ball using keyboard inputs:</a:t>
            </a:r>
            <a:endParaRPr sz="1400">
              <a:solidFill>
                <a:schemeClr val="lt1"/>
              </a:solidFill>
              <a:latin typeface="Merriweather"/>
              <a:ea typeface="Merriweather"/>
              <a:cs typeface="Merriweather"/>
              <a:sym typeface="Merriweather"/>
            </a:endParaRPr>
          </a:p>
          <a:p>
            <a:pPr indent="-317500" lvl="1" marL="914400" rtl="0" algn="l">
              <a:spcBef>
                <a:spcPts val="0"/>
              </a:spcBef>
              <a:spcAft>
                <a:spcPts val="0"/>
              </a:spcAft>
              <a:buClr>
                <a:schemeClr val="lt1"/>
              </a:buClr>
              <a:buSzPts val="1400"/>
              <a:buFont typeface="Merriweather"/>
              <a:buChar char="●"/>
            </a:pPr>
            <a:r>
              <a:rPr lang="en">
                <a:solidFill>
                  <a:schemeClr val="lt1"/>
                </a:solidFill>
                <a:latin typeface="Merriweather"/>
                <a:ea typeface="Merriweather"/>
                <a:cs typeface="Merriweather"/>
                <a:sym typeface="Merriweather"/>
              </a:rPr>
              <a:t>UP arrow key: Jump</a:t>
            </a:r>
            <a:endParaRPr>
              <a:solidFill>
                <a:schemeClr val="lt1"/>
              </a:solidFill>
              <a:latin typeface="Merriweather"/>
              <a:ea typeface="Merriweather"/>
              <a:cs typeface="Merriweather"/>
              <a:sym typeface="Merriweather"/>
            </a:endParaRPr>
          </a:p>
          <a:p>
            <a:pPr indent="-317500" lvl="1" marL="914400" rtl="0" algn="l">
              <a:spcBef>
                <a:spcPts val="0"/>
              </a:spcBef>
              <a:spcAft>
                <a:spcPts val="0"/>
              </a:spcAft>
              <a:buClr>
                <a:schemeClr val="lt1"/>
              </a:buClr>
              <a:buSzPts val="1400"/>
              <a:buFont typeface="Merriweather"/>
              <a:buChar char="●"/>
            </a:pPr>
            <a:r>
              <a:rPr lang="en">
                <a:solidFill>
                  <a:schemeClr val="lt1"/>
                </a:solidFill>
                <a:latin typeface="Merriweather"/>
                <a:ea typeface="Merriweather"/>
                <a:cs typeface="Merriweather"/>
                <a:sym typeface="Merriweather"/>
              </a:rPr>
              <a:t>LEFT and RIGHT arrow keys: Move the ball horizontally</a:t>
            </a:r>
            <a:endParaRPr>
              <a:solidFill>
                <a:schemeClr val="lt1"/>
              </a:solidFill>
              <a:latin typeface="Merriweather"/>
              <a:ea typeface="Merriweather"/>
              <a:cs typeface="Merriweather"/>
              <a:sym typeface="Merriweather"/>
            </a:endParaRPr>
          </a:p>
          <a:p>
            <a:pPr indent="-317500" lvl="1" marL="914400" rtl="0" algn="l">
              <a:spcBef>
                <a:spcPts val="0"/>
              </a:spcBef>
              <a:spcAft>
                <a:spcPts val="0"/>
              </a:spcAft>
              <a:buClr>
                <a:schemeClr val="lt1"/>
              </a:buClr>
              <a:buSzPts val="1400"/>
              <a:buFont typeface="Merriweather"/>
              <a:buChar char="●"/>
            </a:pPr>
            <a:r>
              <a:rPr lang="en">
                <a:solidFill>
                  <a:schemeClr val="lt1"/>
                </a:solidFill>
                <a:latin typeface="Merriweather"/>
                <a:ea typeface="Merriweather"/>
                <a:cs typeface="Merriweather"/>
                <a:sym typeface="Merriweather"/>
              </a:rPr>
              <a:t>'S' key: Increase ball speed</a:t>
            </a:r>
            <a:endParaRPr>
              <a:solidFill>
                <a:schemeClr val="lt1"/>
              </a:solidFill>
              <a:latin typeface="Merriweather"/>
              <a:ea typeface="Merriweather"/>
              <a:cs typeface="Merriweather"/>
              <a:sym typeface="Merriweather"/>
            </a:endParaRPr>
          </a:p>
          <a:p>
            <a:pPr indent="-317500" lvl="1" marL="914400" rtl="0" algn="l">
              <a:spcBef>
                <a:spcPts val="0"/>
              </a:spcBef>
              <a:spcAft>
                <a:spcPts val="0"/>
              </a:spcAft>
              <a:buClr>
                <a:schemeClr val="lt1"/>
              </a:buClr>
              <a:buSzPts val="1400"/>
              <a:buFont typeface="Merriweather"/>
              <a:buChar char="●"/>
            </a:pPr>
            <a:r>
              <a:rPr lang="en">
                <a:solidFill>
                  <a:schemeClr val="lt1"/>
                </a:solidFill>
                <a:latin typeface="Merriweather"/>
                <a:ea typeface="Merriweather"/>
                <a:cs typeface="Merriweather"/>
                <a:sym typeface="Merriweather"/>
              </a:rPr>
              <a:t>'B' key: Increase background color change speed</a:t>
            </a:r>
            <a:endParaRPr>
              <a:solidFill>
                <a:schemeClr val="lt1"/>
              </a:solidFill>
              <a:latin typeface="Merriweather"/>
              <a:ea typeface="Merriweather"/>
              <a:cs typeface="Merriweather"/>
              <a:sym typeface="Merriweather"/>
            </a:endParaRPr>
          </a:p>
          <a:p>
            <a:pPr indent="-317500" lvl="0" marL="457200" rtl="0" algn="l">
              <a:spcBef>
                <a:spcPts val="0"/>
              </a:spcBef>
              <a:spcAft>
                <a:spcPts val="0"/>
              </a:spcAft>
              <a:buClr>
                <a:schemeClr val="lt1"/>
              </a:buClr>
              <a:buSzPts val="1400"/>
              <a:buFont typeface="Merriweather"/>
              <a:buChar char="●"/>
            </a:pPr>
            <a:r>
              <a:rPr lang="en" sz="1400">
                <a:solidFill>
                  <a:schemeClr val="lt1"/>
                </a:solidFill>
                <a:latin typeface="Merriweather"/>
                <a:ea typeface="Merriweather"/>
                <a:cs typeface="Merriweather"/>
                <a:sym typeface="Merriweather"/>
              </a:rPr>
              <a:t>The ball jumps with a physics-based motion influenced by gravity.</a:t>
            </a:r>
            <a:endParaRPr sz="1400">
              <a:solidFill>
                <a:schemeClr val="lt1"/>
              </a:solidFill>
              <a:latin typeface="Merriweather"/>
              <a:ea typeface="Merriweather"/>
              <a:cs typeface="Merriweather"/>
              <a:sym typeface="Merriweather"/>
            </a:endParaRPr>
          </a:p>
          <a:p>
            <a:pPr indent="-317500" lvl="0" marL="457200" rtl="0" algn="l">
              <a:spcBef>
                <a:spcPts val="0"/>
              </a:spcBef>
              <a:spcAft>
                <a:spcPts val="0"/>
              </a:spcAft>
              <a:buClr>
                <a:srgbClr val="FF0000"/>
              </a:buClr>
              <a:buSzPts val="1400"/>
              <a:buFont typeface="Merriweather"/>
              <a:buChar char="●"/>
            </a:pPr>
            <a:r>
              <a:rPr lang="en" sz="1400">
                <a:solidFill>
                  <a:srgbClr val="FF0000"/>
                </a:solidFill>
                <a:latin typeface="Merriweather"/>
                <a:ea typeface="Merriweather"/>
                <a:cs typeface="Merriweather"/>
                <a:sym typeface="Merriweather"/>
              </a:rPr>
              <a:t>Obstacles move horizontally, posing challenges for the player to avoid collisions.</a:t>
            </a:r>
            <a:endParaRPr sz="1400">
              <a:solidFill>
                <a:srgbClr val="FF0000"/>
              </a:solidFill>
              <a:latin typeface="Merriweather"/>
              <a:ea typeface="Merriweather"/>
              <a:cs typeface="Merriweather"/>
              <a:sym typeface="Merriweather"/>
            </a:endParaRPr>
          </a:p>
          <a:p>
            <a:pPr indent="-317500" lvl="0" marL="457200" rtl="0" algn="l">
              <a:spcBef>
                <a:spcPts val="0"/>
              </a:spcBef>
              <a:spcAft>
                <a:spcPts val="0"/>
              </a:spcAft>
              <a:buClr>
                <a:srgbClr val="FF0000"/>
              </a:buClr>
              <a:buSzPts val="1400"/>
              <a:buFont typeface="Merriweather"/>
              <a:buChar char="●"/>
            </a:pPr>
            <a:r>
              <a:rPr lang="en" sz="1400">
                <a:solidFill>
                  <a:srgbClr val="FF0000"/>
                </a:solidFill>
                <a:latin typeface="Merriweather"/>
                <a:ea typeface="Merriweather"/>
                <a:cs typeface="Merriweather"/>
                <a:sym typeface="Merriweather"/>
              </a:rPr>
              <a:t>Background color changes gradually, providing a nice visual experience.</a:t>
            </a:r>
            <a:endParaRPr sz="1400">
              <a:solidFill>
                <a:srgbClr val="FF0000"/>
              </a:solidFill>
              <a:latin typeface="Merriweather"/>
              <a:ea typeface="Merriweather"/>
              <a:cs typeface="Merriweather"/>
              <a:sym typeface="Merriweather"/>
            </a:endParaRPr>
          </a:p>
          <a:p>
            <a:pPr indent="-317500" lvl="0" marL="457200" rtl="0" algn="l">
              <a:spcBef>
                <a:spcPts val="0"/>
              </a:spcBef>
              <a:spcAft>
                <a:spcPts val="0"/>
              </a:spcAft>
              <a:buClr>
                <a:srgbClr val="FF0000"/>
              </a:buClr>
              <a:buSzPts val="1400"/>
              <a:buFont typeface="Merriweather"/>
              <a:buChar char="●"/>
            </a:pPr>
            <a:r>
              <a:rPr lang="en" sz="1400">
                <a:solidFill>
                  <a:srgbClr val="FF0000"/>
                </a:solidFill>
                <a:latin typeface="Merriweather"/>
                <a:ea typeface="Merriweather"/>
                <a:cs typeface="Merriweather"/>
                <a:sym typeface="Merriweather"/>
              </a:rPr>
              <a:t>Jump count increases with successful jumps, displayed on the screen.</a:t>
            </a:r>
            <a:endParaRPr sz="1400">
              <a:solidFill>
                <a:srgbClr val="FF0000"/>
              </a:solidFill>
              <a:latin typeface="Merriweather"/>
              <a:ea typeface="Merriweather"/>
              <a:cs typeface="Merriweather"/>
              <a:sym typeface="Merriweather"/>
            </a:endParaRPr>
          </a:p>
          <a:p>
            <a:pPr indent="-317500" lvl="0" marL="457200" rtl="0" algn="l">
              <a:spcBef>
                <a:spcPts val="0"/>
              </a:spcBef>
              <a:spcAft>
                <a:spcPts val="0"/>
              </a:spcAft>
              <a:buClr>
                <a:srgbClr val="FF0000"/>
              </a:buClr>
              <a:buSzPts val="1400"/>
              <a:buFont typeface="Merriweather"/>
              <a:buChar char="●"/>
            </a:pPr>
            <a:r>
              <a:rPr lang="en" sz="1400">
                <a:solidFill>
                  <a:srgbClr val="FF0000"/>
                </a:solidFill>
                <a:latin typeface="Merriweather"/>
                <a:ea typeface="Merriweather"/>
                <a:cs typeface="Merriweather"/>
                <a:sym typeface="Merriweather"/>
              </a:rPr>
              <a:t>Game over occurs after multiple falls from obstacles, resetting the jump count.</a:t>
            </a:r>
            <a:endParaRPr>
              <a:solidFill>
                <a:schemeClr val="lt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9900"/>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erriweather"/>
                <a:ea typeface="Merriweather"/>
                <a:cs typeface="Merriweather"/>
                <a:sym typeface="Merriweather"/>
              </a:rPr>
              <a:t>Game </a:t>
            </a:r>
            <a:r>
              <a:rPr lang="en">
                <a:solidFill>
                  <a:schemeClr val="lt1"/>
                </a:solidFill>
                <a:latin typeface="Merriweather"/>
                <a:ea typeface="Merriweather"/>
                <a:cs typeface="Merriweather"/>
                <a:sym typeface="Merriweather"/>
              </a:rPr>
              <a:t>Screenshots: </a:t>
            </a:r>
            <a:endParaRPr>
              <a:solidFill>
                <a:schemeClr val="lt1"/>
              </a:solidFill>
              <a:latin typeface="Merriweather"/>
              <a:ea typeface="Merriweather"/>
              <a:cs typeface="Merriweather"/>
              <a:sym typeface="Merriweather"/>
            </a:endParaRPr>
          </a:p>
        </p:txBody>
      </p:sp>
      <p:sp>
        <p:nvSpPr>
          <p:cNvPr id="68" name="Google Shape;68;p15"/>
          <p:cNvSpPr txBox="1"/>
          <p:nvPr>
            <p:ph idx="1" type="body"/>
          </p:nvPr>
        </p:nvSpPr>
        <p:spPr>
          <a:xfrm>
            <a:off x="49325" y="1152475"/>
            <a:ext cx="8995200" cy="3890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accent1"/>
                </a:solidFill>
                <a:latin typeface="Merriweather"/>
                <a:ea typeface="Merriweather"/>
                <a:cs typeface="Merriweather"/>
                <a:sym typeface="Merriweather"/>
              </a:rPr>
              <a:t>3</a:t>
            </a:r>
            <a:r>
              <a:rPr lang="en">
                <a:solidFill>
                  <a:schemeClr val="dk1"/>
                </a:solidFill>
                <a:latin typeface="Merriweather"/>
                <a:ea typeface="Merriweather"/>
                <a:cs typeface="Merriweather"/>
                <a:sym typeface="Merriweather"/>
              </a:rPr>
              <a:t> </a:t>
            </a:r>
            <a:r>
              <a:rPr lang="en">
                <a:solidFill>
                  <a:srgbClr val="FF0000"/>
                </a:solidFill>
                <a:latin typeface="Merriweather"/>
                <a:ea typeface="Merriweather"/>
                <a:cs typeface="Merriweather"/>
                <a:sym typeface="Merriweather"/>
              </a:rPr>
              <a:t>Screenshots </a:t>
            </a:r>
            <a:r>
              <a:rPr lang="en">
                <a:solidFill>
                  <a:schemeClr val="dk1"/>
                </a:solidFill>
                <a:latin typeface="Merriweather"/>
                <a:ea typeface="Merriweather"/>
                <a:cs typeface="Merriweather"/>
                <a:sym typeface="Merriweather"/>
              </a:rPr>
              <a:t>Showing</a:t>
            </a:r>
            <a:r>
              <a:rPr lang="en">
                <a:solidFill>
                  <a:srgbClr val="FF0000"/>
                </a:solidFill>
                <a:latin typeface="Merriweather"/>
                <a:ea typeface="Merriweather"/>
                <a:cs typeface="Merriweather"/>
                <a:sym typeface="Merriweather"/>
              </a:rPr>
              <a:t> the </a:t>
            </a:r>
            <a:r>
              <a:rPr lang="en">
                <a:solidFill>
                  <a:schemeClr val="lt1"/>
                </a:solidFill>
                <a:latin typeface="Merriweather"/>
                <a:ea typeface="Merriweather"/>
                <a:cs typeface="Merriweather"/>
                <a:sym typeface="Merriweather"/>
              </a:rPr>
              <a:t>Game: </a:t>
            </a:r>
            <a:endParaRPr>
              <a:solidFill>
                <a:schemeClr val="lt1"/>
              </a:solidFill>
              <a:latin typeface="Merriweather"/>
              <a:ea typeface="Merriweather"/>
              <a:cs typeface="Merriweather"/>
              <a:sym typeface="Merriweather"/>
            </a:endParaRPr>
          </a:p>
          <a:p>
            <a:pPr indent="0" lvl="0" marL="0" rtl="0" algn="l">
              <a:spcBef>
                <a:spcPts val="1200"/>
              </a:spcBef>
              <a:spcAft>
                <a:spcPts val="0"/>
              </a:spcAft>
              <a:buNone/>
            </a:pPr>
            <a:r>
              <a:t/>
            </a:r>
            <a:endParaRPr>
              <a:solidFill>
                <a:srgbClr val="FF0000"/>
              </a:solidFill>
              <a:latin typeface="Merriweather"/>
              <a:ea typeface="Merriweather"/>
              <a:cs typeface="Merriweather"/>
              <a:sym typeface="Merriweather"/>
            </a:endParaRPr>
          </a:p>
          <a:p>
            <a:pPr indent="0" lvl="0" marL="0" rtl="0" algn="l">
              <a:spcBef>
                <a:spcPts val="1200"/>
              </a:spcBef>
              <a:spcAft>
                <a:spcPts val="0"/>
              </a:spcAft>
              <a:buNone/>
            </a:pPr>
            <a:r>
              <a:t/>
            </a:r>
            <a:endParaRPr>
              <a:solidFill>
                <a:srgbClr val="FF0000"/>
              </a:solidFill>
              <a:latin typeface="Merriweather"/>
              <a:ea typeface="Merriweather"/>
              <a:cs typeface="Merriweather"/>
              <a:sym typeface="Merriweather"/>
            </a:endParaRPr>
          </a:p>
          <a:p>
            <a:pPr indent="0" lvl="0" marL="0" rtl="0" algn="l">
              <a:spcBef>
                <a:spcPts val="1200"/>
              </a:spcBef>
              <a:spcAft>
                <a:spcPts val="0"/>
              </a:spcAft>
              <a:buNone/>
            </a:pPr>
            <a:r>
              <a:t/>
            </a:r>
            <a:endParaRPr>
              <a:solidFill>
                <a:srgbClr val="FF0000"/>
              </a:solidFill>
              <a:latin typeface="Merriweather"/>
              <a:ea typeface="Merriweather"/>
              <a:cs typeface="Merriweather"/>
              <a:sym typeface="Merriweather"/>
            </a:endParaRPr>
          </a:p>
          <a:p>
            <a:pPr indent="0" lvl="0" marL="0" rtl="0" algn="l">
              <a:spcBef>
                <a:spcPts val="1200"/>
              </a:spcBef>
              <a:spcAft>
                <a:spcPts val="0"/>
              </a:spcAft>
              <a:buNone/>
            </a:pPr>
            <a:r>
              <a:t/>
            </a:r>
            <a:endParaRPr>
              <a:solidFill>
                <a:srgbClr val="FF0000"/>
              </a:solidFill>
              <a:latin typeface="Merriweather"/>
              <a:ea typeface="Merriweather"/>
              <a:cs typeface="Merriweather"/>
              <a:sym typeface="Merriweather"/>
            </a:endParaRPr>
          </a:p>
          <a:p>
            <a:pPr indent="0" lvl="0" marL="0" rtl="0" algn="l">
              <a:spcBef>
                <a:spcPts val="1200"/>
              </a:spcBef>
              <a:spcAft>
                <a:spcPts val="0"/>
              </a:spcAft>
              <a:buNone/>
            </a:pPr>
            <a:r>
              <a:t/>
            </a:r>
            <a:endParaRPr>
              <a:solidFill>
                <a:srgbClr val="FF0000"/>
              </a:solidFill>
              <a:latin typeface="Merriweather"/>
              <a:ea typeface="Merriweather"/>
              <a:cs typeface="Merriweather"/>
              <a:sym typeface="Merriweather"/>
            </a:endParaRPr>
          </a:p>
          <a:p>
            <a:pPr indent="0" lvl="0" marL="0" rtl="0" algn="l">
              <a:spcBef>
                <a:spcPts val="1200"/>
              </a:spcBef>
              <a:spcAft>
                <a:spcPts val="1200"/>
              </a:spcAft>
              <a:buNone/>
            </a:pPr>
            <a:r>
              <a:rPr lang="en">
                <a:solidFill>
                  <a:srgbClr val="FF0000"/>
                </a:solidFill>
                <a:latin typeface="Merriweather"/>
                <a:ea typeface="Merriweather"/>
                <a:cs typeface="Merriweather"/>
                <a:sym typeface="Merriweather"/>
              </a:rPr>
              <a:t>In this game you move left and right to get a higher score</a:t>
            </a:r>
            <a:r>
              <a:rPr lang="en">
                <a:solidFill>
                  <a:schemeClr val="lt1"/>
                </a:solidFill>
                <a:latin typeface="Merriweather"/>
                <a:ea typeface="Merriweather"/>
                <a:cs typeface="Merriweather"/>
                <a:sym typeface="Merriweather"/>
              </a:rPr>
              <a:t> and once you fall 5 times the game counter resets. You can also change the speed and colors of the game. </a:t>
            </a:r>
            <a:endParaRPr>
              <a:solidFill>
                <a:schemeClr val="lt1"/>
              </a:solidFill>
              <a:latin typeface="Merriweather"/>
              <a:ea typeface="Merriweather"/>
              <a:cs typeface="Merriweather"/>
              <a:sym typeface="Merriweather"/>
            </a:endParaRPr>
          </a:p>
        </p:txBody>
      </p:sp>
      <p:pic>
        <p:nvPicPr>
          <p:cNvPr id="69" name="Google Shape;69;p15"/>
          <p:cNvPicPr preferRelativeResize="0"/>
          <p:nvPr/>
        </p:nvPicPr>
        <p:blipFill>
          <a:blip r:embed="rId3">
            <a:alphaModFix/>
          </a:blip>
          <a:stretch>
            <a:fillRect/>
          </a:stretch>
        </p:blipFill>
        <p:spPr>
          <a:xfrm>
            <a:off x="111075" y="1632325"/>
            <a:ext cx="3619949" cy="2036224"/>
          </a:xfrm>
          <a:prstGeom prst="rect">
            <a:avLst/>
          </a:prstGeom>
          <a:noFill/>
          <a:ln>
            <a:noFill/>
          </a:ln>
        </p:spPr>
      </p:pic>
      <p:pic>
        <p:nvPicPr>
          <p:cNvPr id="70" name="Google Shape;70;p15"/>
          <p:cNvPicPr preferRelativeResize="0"/>
          <p:nvPr/>
        </p:nvPicPr>
        <p:blipFill>
          <a:blip r:embed="rId4">
            <a:alphaModFix/>
          </a:blip>
          <a:stretch>
            <a:fillRect/>
          </a:stretch>
        </p:blipFill>
        <p:spPr>
          <a:xfrm>
            <a:off x="4051375" y="248225"/>
            <a:ext cx="2993674" cy="1683944"/>
          </a:xfrm>
          <a:prstGeom prst="rect">
            <a:avLst/>
          </a:prstGeom>
          <a:noFill/>
          <a:ln>
            <a:noFill/>
          </a:ln>
        </p:spPr>
      </p:pic>
      <p:pic>
        <p:nvPicPr>
          <p:cNvPr id="71" name="Google Shape;71;p15"/>
          <p:cNvPicPr preferRelativeResize="0"/>
          <p:nvPr/>
        </p:nvPicPr>
        <p:blipFill>
          <a:blip r:embed="rId5">
            <a:alphaModFix/>
          </a:blip>
          <a:stretch>
            <a:fillRect/>
          </a:stretch>
        </p:blipFill>
        <p:spPr>
          <a:xfrm>
            <a:off x="4109322" y="2115400"/>
            <a:ext cx="2993674" cy="16839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Merriweather"/>
                <a:ea typeface="Merriweather"/>
                <a:cs typeface="Merriweather"/>
                <a:sym typeface="Merriweather"/>
              </a:rPr>
              <a:t>Screenshots</a:t>
            </a:r>
            <a:r>
              <a:rPr lang="en">
                <a:latin typeface="Merriweather"/>
                <a:ea typeface="Merriweather"/>
                <a:cs typeface="Merriweather"/>
                <a:sym typeface="Merriweather"/>
              </a:rPr>
              <a:t> of </a:t>
            </a:r>
            <a:r>
              <a:rPr lang="en">
                <a:solidFill>
                  <a:srgbClr val="FF0000"/>
                </a:solidFill>
                <a:latin typeface="Merriweather"/>
                <a:ea typeface="Merriweather"/>
                <a:cs typeface="Merriweather"/>
                <a:sym typeface="Merriweather"/>
              </a:rPr>
              <a:t>Code: This shows all my comments and code. </a:t>
            </a:r>
            <a:endParaRPr>
              <a:solidFill>
                <a:srgbClr val="FF0000"/>
              </a:solidFill>
              <a:latin typeface="Merriweather"/>
              <a:ea typeface="Merriweather"/>
              <a:cs typeface="Merriweather"/>
              <a:sym typeface="Merriweather"/>
            </a:endParaRPr>
          </a:p>
        </p:txBody>
      </p:sp>
      <p:sp>
        <p:nvSpPr>
          <p:cNvPr id="77" name="Google Shape;77;p16"/>
          <p:cNvSpPr txBox="1"/>
          <p:nvPr>
            <p:ph idx="1" type="body"/>
          </p:nvPr>
        </p:nvSpPr>
        <p:spPr>
          <a:xfrm>
            <a:off x="131525" y="1152475"/>
            <a:ext cx="8866200" cy="391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Merriweather"/>
                <a:ea typeface="Merriweather"/>
                <a:cs typeface="Merriweather"/>
                <a:sym typeface="Merriweather"/>
              </a:rPr>
              <a:t>4 </a:t>
            </a:r>
            <a:r>
              <a:rPr lang="en">
                <a:solidFill>
                  <a:srgbClr val="FF0000"/>
                </a:solidFill>
                <a:latin typeface="Merriweather"/>
                <a:ea typeface="Merriweather"/>
                <a:cs typeface="Merriweather"/>
                <a:sym typeface="Merriweather"/>
              </a:rPr>
              <a:t>Code </a:t>
            </a:r>
            <a:r>
              <a:rPr lang="en">
                <a:solidFill>
                  <a:schemeClr val="lt1"/>
                </a:solidFill>
                <a:latin typeface="Merriweather"/>
                <a:ea typeface="Merriweather"/>
                <a:cs typeface="Merriweather"/>
                <a:sym typeface="Merriweather"/>
              </a:rPr>
              <a:t>Screenshots </a:t>
            </a:r>
            <a:r>
              <a:rPr lang="en">
                <a:solidFill>
                  <a:schemeClr val="dk1"/>
                </a:solidFill>
                <a:latin typeface="Merriweather"/>
                <a:ea typeface="Merriweather"/>
                <a:cs typeface="Merriweather"/>
                <a:sym typeface="Merriweather"/>
              </a:rPr>
              <a:t>to show how the game runs</a:t>
            </a:r>
            <a:r>
              <a:rPr lang="en">
                <a:solidFill>
                  <a:schemeClr val="lt1"/>
                </a:solidFill>
                <a:latin typeface="Merriweather"/>
                <a:ea typeface="Merriweather"/>
                <a:cs typeface="Merriweather"/>
                <a:sym typeface="Merriweather"/>
              </a:rPr>
              <a:t>:</a:t>
            </a:r>
            <a:endParaRPr>
              <a:solidFill>
                <a:schemeClr val="lt1"/>
              </a:solidFill>
              <a:latin typeface="Merriweather"/>
              <a:ea typeface="Merriweather"/>
              <a:cs typeface="Merriweather"/>
              <a:sym typeface="Merriweather"/>
            </a:endParaRPr>
          </a:p>
        </p:txBody>
      </p:sp>
      <p:pic>
        <p:nvPicPr>
          <p:cNvPr id="78" name="Google Shape;78;p16"/>
          <p:cNvPicPr preferRelativeResize="0"/>
          <p:nvPr/>
        </p:nvPicPr>
        <p:blipFill>
          <a:blip r:embed="rId3">
            <a:alphaModFix/>
          </a:blip>
          <a:stretch>
            <a:fillRect/>
          </a:stretch>
        </p:blipFill>
        <p:spPr>
          <a:xfrm>
            <a:off x="131525" y="1618221"/>
            <a:ext cx="2663851" cy="1498400"/>
          </a:xfrm>
          <a:prstGeom prst="rect">
            <a:avLst/>
          </a:prstGeom>
          <a:noFill/>
          <a:ln>
            <a:noFill/>
          </a:ln>
        </p:spPr>
      </p:pic>
      <p:pic>
        <p:nvPicPr>
          <p:cNvPr id="79" name="Google Shape;79;p16"/>
          <p:cNvPicPr preferRelativeResize="0"/>
          <p:nvPr/>
        </p:nvPicPr>
        <p:blipFill>
          <a:blip r:embed="rId4">
            <a:alphaModFix/>
          </a:blip>
          <a:stretch>
            <a:fillRect/>
          </a:stretch>
        </p:blipFill>
        <p:spPr>
          <a:xfrm>
            <a:off x="2923750" y="1531325"/>
            <a:ext cx="2972803" cy="1672199"/>
          </a:xfrm>
          <a:prstGeom prst="rect">
            <a:avLst/>
          </a:prstGeom>
          <a:noFill/>
          <a:ln>
            <a:noFill/>
          </a:ln>
        </p:spPr>
      </p:pic>
      <p:pic>
        <p:nvPicPr>
          <p:cNvPr id="80" name="Google Shape;80;p16"/>
          <p:cNvPicPr preferRelativeResize="0"/>
          <p:nvPr/>
        </p:nvPicPr>
        <p:blipFill>
          <a:blip r:embed="rId5">
            <a:alphaModFix/>
          </a:blip>
          <a:stretch>
            <a:fillRect/>
          </a:stretch>
        </p:blipFill>
        <p:spPr>
          <a:xfrm>
            <a:off x="5977950" y="1531324"/>
            <a:ext cx="2972798" cy="1672199"/>
          </a:xfrm>
          <a:prstGeom prst="rect">
            <a:avLst/>
          </a:prstGeom>
          <a:noFill/>
          <a:ln>
            <a:noFill/>
          </a:ln>
        </p:spPr>
      </p:pic>
      <p:pic>
        <p:nvPicPr>
          <p:cNvPr id="81" name="Google Shape;81;p16"/>
          <p:cNvPicPr preferRelativeResize="0"/>
          <p:nvPr/>
        </p:nvPicPr>
        <p:blipFill>
          <a:blip r:embed="rId6">
            <a:alphaModFix/>
          </a:blip>
          <a:stretch>
            <a:fillRect/>
          </a:stretch>
        </p:blipFill>
        <p:spPr>
          <a:xfrm>
            <a:off x="2726250" y="3269300"/>
            <a:ext cx="3194074" cy="17966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FF"/>
        </a:solid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lt1"/>
                </a:solidFill>
                <a:latin typeface="Merriweather"/>
                <a:ea typeface="Merriweather"/>
                <a:cs typeface="Merriweather"/>
                <a:sym typeface="Merriweather"/>
              </a:rPr>
              <a:t>Screenshots </a:t>
            </a:r>
            <a:r>
              <a:rPr lang="en">
                <a:solidFill>
                  <a:srgbClr val="FF0000"/>
                </a:solidFill>
                <a:latin typeface="Merriweather"/>
                <a:ea typeface="Merriweather"/>
                <a:cs typeface="Merriweather"/>
                <a:sym typeface="Merriweather"/>
              </a:rPr>
              <a:t>of </a:t>
            </a:r>
            <a:r>
              <a:rPr lang="en">
                <a:latin typeface="Merriweather"/>
                <a:ea typeface="Merriweather"/>
                <a:cs typeface="Merriweather"/>
                <a:sym typeface="Merriweather"/>
              </a:rPr>
              <a:t>Code</a:t>
            </a:r>
            <a:r>
              <a:rPr lang="en">
                <a:solidFill>
                  <a:schemeClr val="accent1"/>
                </a:solidFill>
                <a:latin typeface="Merriweather"/>
                <a:ea typeface="Merriweather"/>
                <a:cs typeface="Merriweather"/>
                <a:sym typeface="Merriweather"/>
              </a:rPr>
              <a:t> II: Showing the last bit of code. </a:t>
            </a:r>
            <a:endParaRPr>
              <a:solidFill>
                <a:schemeClr val="accent1"/>
              </a:solidFill>
              <a:latin typeface="Merriweather"/>
              <a:ea typeface="Merriweather"/>
              <a:cs typeface="Merriweather"/>
              <a:sym typeface="Merriweather"/>
            </a:endParaRPr>
          </a:p>
          <a:p>
            <a:pPr indent="0" lvl="0" marL="0" rtl="0" algn="l">
              <a:spcBef>
                <a:spcPts val="0"/>
              </a:spcBef>
              <a:spcAft>
                <a:spcPts val="0"/>
              </a:spcAft>
              <a:buNone/>
            </a:pPr>
            <a:r>
              <a:t/>
            </a:r>
            <a:endParaRPr>
              <a:solidFill>
                <a:schemeClr val="lt1"/>
              </a:solidFill>
              <a:latin typeface="Merriweather"/>
              <a:ea typeface="Merriweather"/>
              <a:cs typeface="Merriweather"/>
              <a:sym typeface="Merriweather"/>
            </a:endParaRPr>
          </a:p>
        </p:txBody>
      </p:sp>
      <p:sp>
        <p:nvSpPr>
          <p:cNvPr id="87" name="Google Shape;87;p17"/>
          <p:cNvSpPr txBox="1"/>
          <p:nvPr>
            <p:ph idx="1" type="body"/>
          </p:nvPr>
        </p:nvSpPr>
        <p:spPr>
          <a:xfrm>
            <a:off x="96300" y="1017725"/>
            <a:ext cx="8901300" cy="40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latin typeface="Merriweather"/>
                <a:ea typeface="Merriweather"/>
                <a:cs typeface="Merriweather"/>
                <a:sym typeface="Merriweather"/>
              </a:rPr>
              <a:t>3</a:t>
            </a:r>
            <a:r>
              <a:rPr lang="en">
                <a:solidFill>
                  <a:schemeClr val="dk1"/>
                </a:solidFill>
                <a:latin typeface="Merriweather"/>
                <a:ea typeface="Merriweather"/>
                <a:cs typeface="Merriweather"/>
                <a:sym typeface="Merriweather"/>
              </a:rPr>
              <a:t> Screenshots of code to </a:t>
            </a:r>
            <a:r>
              <a:rPr lang="en">
                <a:solidFill>
                  <a:schemeClr val="lt1"/>
                </a:solidFill>
                <a:latin typeface="Merriweather"/>
                <a:ea typeface="Merriweather"/>
                <a:cs typeface="Merriweather"/>
                <a:sym typeface="Merriweather"/>
              </a:rPr>
              <a:t>show how the game runs: </a:t>
            </a:r>
            <a:endParaRPr>
              <a:solidFill>
                <a:schemeClr val="lt1"/>
              </a:solidFill>
              <a:latin typeface="Merriweather"/>
              <a:ea typeface="Merriweather"/>
              <a:cs typeface="Merriweather"/>
              <a:sym typeface="Merriweather"/>
            </a:endParaRPr>
          </a:p>
        </p:txBody>
      </p:sp>
      <p:pic>
        <p:nvPicPr>
          <p:cNvPr id="88" name="Google Shape;88;p17"/>
          <p:cNvPicPr preferRelativeResize="0"/>
          <p:nvPr/>
        </p:nvPicPr>
        <p:blipFill>
          <a:blip r:embed="rId3">
            <a:alphaModFix/>
          </a:blip>
          <a:stretch>
            <a:fillRect/>
          </a:stretch>
        </p:blipFill>
        <p:spPr>
          <a:xfrm>
            <a:off x="469725" y="1405263"/>
            <a:ext cx="3354178" cy="1886725"/>
          </a:xfrm>
          <a:prstGeom prst="rect">
            <a:avLst/>
          </a:prstGeom>
          <a:noFill/>
          <a:ln>
            <a:noFill/>
          </a:ln>
        </p:spPr>
      </p:pic>
      <p:pic>
        <p:nvPicPr>
          <p:cNvPr id="89" name="Google Shape;89;p17"/>
          <p:cNvPicPr preferRelativeResize="0"/>
          <p:nvPr/>
        </p:nvPicPr>
        <p:blipFill>
          <a:blip r:embed="rId4">
            <a:alphaModFix/>
          </a:blip>
          <a:stretch>
            <a:fillRect/>
          </a:stretch>
        </p:blipFill>
        <p:spPr>
          <a:xfrm>
            <a:off x="4239250" y="1405263"/>
            <a:ext cx="3354173" cy="1886720"/>
          </a:xfrm>
          <a:prstGeom prst="rect">
            <a:avLst/>
          </a:prstGeom>
          <a:noFill/>
          <a:ln>
            <a:noFill/>
          </a:ln>
        </p:spPr>
      </p:pic>
      <p:pic>
        <p:nvPicPr>
          <p:cNvPr id="90" name="Google Shape;90;p17"/>
          <p:cNvPicPr preferRelativeResize="0"/>
          <p:nvPr/>
        </p:nvPicPr>
        <p:blipFill>
          <a:blip r:embed="rId5">
            <a:alphaModFix/>
          </a:blip>
          <a:stretch>
            <a:fillRect/>
          </a:stretch>
        </p:blipFill>
        <p:spPr>
          <a:xfrm>
            <a:off x="2794850" y="3374326"/>
            <a:ext cx="3049402" cy="1715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Merriweather"/>
                <a:ea typeface="Merriweather"/>
                <a:cs typeface="Merriweather"/>
                <a:sym typeface="Merriweather"/>
              </a:rPr>
              <a:t>What do I like about my code</a:t>
            </a:r>
            <a:r>
              <a:rPr lang="en">
                <a:latin typeface="Merriweather"/>
                <a:ea typeface="Merriweather"/>
                <a:cs typeface="Merriweather"/>
                <a:sym typeface="Merriweather"/>
              </a:rPr>
              <a:t> and why did I create my game the way I did? </a:t>
            </a:r>
            <a:endParaRPr>
              <a:latin typeface="Merriweather"/>
              <a:ea typeface="Merriweather"/>
              <a:cs typeface="Merriweather"/>
              <a:sym typeface="Merriweather"/>
            </a:endParaRPr>
          </a:p>
        </p:txBody>
      </p:sp>
      <p:sp>
        <p:nvSpPr>
          <p:cNvPr id="96" name="Google Shape;96;p18"/>
          <p:cNvSpPr txBox="1"/>
          <p:nvPr>
            <p:ph idx="1" type="body"/>
          </p:nvPr>
        </p:nvSpPr>
        <p:spPr>
          <a:xfrm>
            <a:off x="96300" y="1355150"/>
            <a:ext cx="8901300" cy="3687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FF0000"/>
              </a:buClr>
              <a:buSzPts val="1800"/>
              <a:buFont typeface="Merriweather"/>
              <a:buChar char="●"/>
            </a:pPr>
            <a:r>
              <a:rPr lang="en">
                <a:solidFill>
                  <a:srgbClr val="FF0000"/>
                </a:solidFill>
                <a:latin typeface="Merriweather"/>
                <a:ea typeface="Merriweather"/>
                <a:cs typeface="Merriweather"/>
                <a:sym typeface="Merriweather"/>
              </a:rPr>
              <a:t>I like how I organized the code, I tried to make it as clear as possible (make it easy to read).</a:t>
            </a:r>
            <a:endParaRPr>
              <a:solidFill>
                <a:srgbClr val="FF0000"/>
              </a:solidFill>
              <a:latin typeface="Merriweather"/>
              <a:ea typeface="Merriweather"/>
              <a:cs typeface="Merriweather"/>
              <a:sym typeface="Merriweather"/>
            </a:endParaRPr>
          </a:p>
          <a:p>
            <a:pPr indent="-342900" lvl="0" marL="457200" rtl="0" algn="l">
              <a:spcBef>
                <a:spcPts val="0"/>
              </a:spcBef>
              <a:spcAft>
                <a:spcPts val="0"/>
              </a:spcAft>
              <a:buClr>
                <a:srgbClr val="FF0000"/>
              </a:buClr>
              <a:buSzPts val="1800"/>
              <a:buFont typeface="Merriweather"/>
              <a:buChar char="●"/>
            </a:pPr>
            <a:r>
              <a:rPr lang="en">
                <a:solidFill>
                  <a:srgbClr val="FF0000"/>
                </a:solidFill>
                <a:latin typeface="Merriweather"/>
                <a:ea typeface="Merriweather"/>
                <a:cs typeface="Merriweather"/>
                <a:sym typeface="Merriweather"/>
              </a:rPr>
              <a:t>I wrote my comments honestly and the best I could </a:t>
            </a:r>
            <a:endParaRPr>
              <a:solidFill>
                <a:srgbClr val="FF0000"/>
              </a:solidFill>
              <a:latin typeface="Merriweather"/>
              <a:ea typeface="Merriweather"/>
              <a:cs typeface="Merriweather"/>
              <a:sym typeface="Merriweather"/>
            </a:endParaRPr>
          </a:p>
          <a:p>
            <a:pPr indent="-342900" lvl="0" marL="457200" rtl="0" algn="l">
              <a:spcBef>
                <a:spcPts val="0"/>
              </a:spcBef>
              <a:spcAft>
                <a:spcPts val="0"/>
              </a:spcAft>
              <a:buClr>
                <a:srgbClr val="FF0000"/>
              </a:buClr>
              <a:buSzPts val="1800"/>
              <a:buFont typeface="Merriweather"/>
              <a:buChar char="●"/>
            </a:pPr>
            <a:r>
              <a:rPr lang="en">
                <a:solidFill>
                  <a:srgbClr val="FF0000"/>
                </a:solidFill>
                <a:latin typeface="Merriweather"/>
                <a:ea typeface="Merriweather"/>
                <a:cs typeface="Merriweather"/>
                <a:sym typeface="Merriweather"/>
              </a:rPr>
              <a:t>My game was based off of two games I liked playing that are similar to it like “Beat Stomper” and “Smash Hit”. </a:t>
            </a:r>
            <a:endParaRPr>
              <a:solidFill>
                <a:srgbClr val="FF0000"/>
              </a:solidFill>
              <a:latin typeface="Merriweather"/>
              <a:ea typeface="Merriweather"/>
              <a:cs typeface="Merriweather"/>
              <a:sym typeface="Merriweather"/>
            </a:endParaRPr>
          </a:p>
          <a:p>
            <a:pPr indent="-342900" lvl="0" marL="457200" rtl="0" algn="l">
              <a:spcBef>
                <a:spcPts val="0"/>
              </a:spcBef>
              <a:spcAft>
                <a:spcPts val="0"/>
              </a:spcAft>
              <a:buClr>
                <a:schemeClr val="dk1"/>
              </a:buClr>
              <a:buSzPts val="1800"/>
              <a:buFont typeface="Merriweather"/>
              <a:buChar char="●"/>
            </a:pPr>
            <a:r>
              <a:rPr lang="en">
                <a:solidFill>
                  <a:schemeClr val="dk1"/>
                </a:solidFill>
                <a:latin typeface="Merriweather"/>
                <a:ea typeface="Merriweather"/>
                <a:cs typeface="Merriweather"/>
                <a:sym typeface="Merriweather"/>
              </a:rPr>
              <a:t>I wanted to create a game that was fun and that you don’t lose in. </a:t>
            </a:r>
            <a:endParaRPr>
              <a:solidFill>
                <a:schemeClr val="dk1"/>
              </a:solidFill>
              <a:latin typeface="Merriweather"/>
              <a:ea typeface="Merriweather"/>
              <a:cs typeface="Merriweather"/>
              <a:sym typeface="Merriweather"/>
            </a:endParaRPr>
          </a:p>
          <a:p>
            <a:pPr indent="-342900" lvl="0" marL="457200" rtl="0" algn="l">
              <a:spcBef>
                <a:spcPts val="0"/>
              </a:spcBef>
              <a:spcAft>
                <a:spcPts val="0"/>
              </a:spcAft>
              <a:buClr>
                <a:schemeClr val="dk1"/>
              </a:buClr>
              <a:buSzPts val="1800"/>
              <a:buFont typeface="Merriweather"/>
              <a:buChar char="●"/>
            </a:pPr>
            <a:r>
              <a:rPr lang="en">
                <a:solidFill>
                  <a:schemeClr val="dk1"/>
                </a:solidFill>
                <a:latin typeface="Merriweather"/>
                <a:ea typeface="Merriweather"/>
                <a:cs typeface="Merriweather"/>
                <a:sym typeface="Merriweather"/>
              </a:rPr>
              <a:t>I wanted to create a game that was addictive to play. </a:t>
            </a:r>
            <a:endParaRPr>
              <a:solidFill>
                <a:schemeClr val="dk1"/>
              </a:solidFill>
              <a:latin typeface="Merriweather"/>
              <a:ea typeface="Merriweather"/>
              <a:cs typeface="Merriweather"/>
              <a:sym typeface="Merriweather"/>
            </a:endParaRPr>
          </a:p>
          <a:p>
            <a:pPr indent="-342900" lvl="0" marL="457200" rtl="0" algn="l">
              <a:spcBef>
                <a:spcPts val="0"/>
              </a:spcBef>
              <a:spcAft>
                <a:spcPts val="0"/>
              </a:spcAft>
              <a:buClr>
                <a:schemeClr val="dk1"/>
              </a:buClr>
              <a:buSzPts val="1800"/>
              <a:buFont typeface="Merriweather"/>
              <a:buChar char="●"/>
            </a:pPr>
            <a:r>
              <a:rPr lang="en">
                <a:solidFill>
                  <a:schemeClr val="dk1"/>
                </a:solidFill>
                <a:latin typeface="Merriweather"/>
                <a:ea typeface="Merriweather"/>
                <a:cs typeface="Merriweather"/>
                <a:sym typeface="Merriweather"/>
              </a:rPr>
              <a:t>In my game you aim to get the best score </a:t>
            </a:r>
            <a:r>
              <a:rPr lang="en">
                <a:solidFill>
                  <a:schemeClr val="dk1"/>
                </a:solidFill>
                <a:latin typeface="Merriweather"/>
                <a:ea typeface="Merriweather"/>
                <a:cs typeface="Merriweather"/>
                <a:sym typeface="Merriweather"/>
              </a:rPr>
              <a:t>you can and then after falling a couple times the counters reset. </a:t>
            </a:r>
            <a:endParaRPr>
              <a:solidFill>
                <a:schemeClr val="dk1"/>
              </a:solidFill>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A9999"/>
                </a:solidFill>
                <a:latin typeface="Merriweather"/>
                <a:ea typeface="Merriweather"/>
                <a:cs typeface="Merriweather"/>
                <a:sym typeface="Merriweather"/>
              </a:rPr>
              <a:t>Problems I had making the game</a:t>
            </a:r>
            <a:r>
              <a:rPr lang="en">
                <a:solidFill>
                  <a:schemeClr val="lt1"/>
                </a:solidFill>
                <a:latin typeface="Merriweather"/>
                <a:ea typeface="Merriweather"/>
                <a:cs typeface="Merriweather"/>
                <a:sym typeface="Merriweather"/>
              </a:rPr>
              <a:t> and how I came up with </a:t>
            </a:r>
            <a:r>
              <a:rPr lang="en">
                <a:solidFill>
                  <a:schemeClr val="lt1"/>
                </a:solidFill>
                <a:latin typeface="Merriweather"/>
                <a:ea typeface="Merriweather"/>
                <a:cs typeface="Merriweather"/>
                <a:sym typeface="Merriweather"/>
              </a:rPr>
              <a:t>solutions</a:t>
            </a:r>
            <a:r>
              <a:rPr lang="en">
                <a:solidFill>
                  <a:schemeClr val="lt1"/>
                </a:solidFill>
                <a:latin typeface="Merriweather"/>
                <a:ea typeface="Merriweather"/>
                <a:cs typeface="Merriweather"/>
                <a:sym typeface="Merriweather"/>
              </a:rPr>
              <a:t>: </a:t>
            </a:r>
            <a:endParaRPr>
              <a:solidFill>
                <a:schemeClr val="lt1"/>
              </a:solidFill>
              <a:latin typeface="Merriweather"/>
              <a:ea typeface="Merriweather"/>
              <a:cs typeface="Merriweather"/>
              <a:sym typeface="Merriweather"/>
            </a:endParaRPr>
          </a:p>
        </p:txBody>
      </p:sp>
      <p:sp>
        <p:nvSpPr>
          <p:cNvPr id="102" name="Google Shape;102;p19"/>
          <p:cNvSpPr txBox="1"/>
          <p:nvPr>
            <p:ph idx="1" type="body"/>
          </p:nvPr>
        </p:nvSpPr>
        <p:spPr>
          <a:xfrm>
            <a:off x="119775" y="1390400"/>
            <a:ext cx="8842500" cy="36522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en">
                <a:solidFill>
                  <a:srgbClr val="EA9999"/>
                </a:solidFill>
                <a:latin typeface="Merriweather"/>
                <a:ea typeface="Merriweather"/>
                <a:cs typeface="Merriweather"/>
                <a:sym typeface="Merriweather"/>
              </a:rPr>
              <a:t>I came across several issues when creating my game. Issues like how fast </a:t>
            </a:r>
            <a:r>
              <a:rPr lang="en">
                <a:solidFill>
                  <a:srgbClr val="EA9999"/>
                </a:solidFill>
                <a:latin typeface="Merriweather"/>
                <a:ea typeface="Merriweather"/>
                <a:cs typeface="Merriweather"/>
                <a:sym typeface="Merriweather"/>
              </a:rPr>
              <a:t>should</a:t>
            </a:r>
            <a:r>
              <a:rPr lang="en">
                <a:solidFill>
                  <a:srgbClr val="EA9999"/>
                </a:solidFill>
                <a:latin typeface="Merriweather"/>
                <a:ea typeface="Merriweather"/>
                <a:cs typeface="Merriweather"/>
                <a:sym typeface="Merriweather"/>
              </a:rPr>
              <a:t> the ball go?, how fast should the background color be when playing?,How do I fix the </a:t>
            </a:r>
            <a:r>
              <a:rPr lang="en">
                <a:solidFill>
                  <a:srgbClr val="EA9999"/>
                </a:solidFill>
                <a:latin typeface="Merriweather"/>
                <a:ea typeface="Merriweather"/>
                <a:cs typeface="Merriweather"/>
                <a:sym typeface="Merriweather"/>
              </a:rPr>
              <a:t>collision</a:t>
            </a:r>
            <a:r>
              <a:rPr lang="en">
                <a:solidFill>
                  <a:srgbClr val="EA9999"/>
                </a:solidFill>
                <a:latin typeface="Merriweather"/>
                <a:ea typeface="Merriweather"/>
                <a:cs typeface="Merriweather"/>
                <a:sym typeface="Merriweather"/>
              </a:rPr>
              <a:t> and counter glitches where it </a:t>
            </a:r>
            <a:r>
              <a:rPr lang="en">
                <a:solidFill>
                  <a:srgbClr val="EA9999"/>
                </a:solidFill>
                <a:latin typeface="Merriweather"/>
                <a:ea typeface="Merriweather"/>
                <a:cs typeface="Merriweather"/>
                <a:sym typeface="Merriweather"/>
              </a:rPr>
              <a:t>wasn't</a:t>
            </a:r>
            <a:r>
              <a:rPr lang="en">
                <a:solidFill>
                  <a:srgbClr val="EA9999"/>
                </a:solidFill>
                <a:latin typeface="Merriweather"/>
                <a:ea typeface="Merriweather"/>
                <a:cs typeface="Merriweather"/>
                <a:sym typeface="Merriweather"/>
              </a:rPr>
              <a:t> working properly? These were questions I asked myself and tried to fix the problems the best I could, but since I was </a:t>
            </a:r>
            <a:r>
              <a:rPr lang="en">
                <a:solidFill>
                  <a:srgbClr val="EA9999"/>
                </a:solidFill>
                <a:latin typeface="Merriweather"/>
                <a:ea typeface="Merriweather"/>
                <a:cs typeface="Merriweather"/>
                <a:sym typeface="Merriweather"/>
              </a:rPr>
              <a:t>fairly</a:t>
            </a:r>
            <a:r>
              <a:rPr lang="en">
                <a:solidFill>
                  <a:srgbClr val="EA9999"/>
                </a:solidFill>
                <a:latin typeface="Merriweather"/>
                <a:ea typeface="Merriweather"/>
                <a:cs typeface="Merriweather"/>
                <a:sym typeface="Merriweather"/>
              </a:rPr>
              <a:t> new with programming I got help from my tutor and friends to realize my vision of </a:t>
            </a:r>
            <a:r>
              <a:rPr lang="en">
                <a:solidFill>
                  <a:srgbClr val="EA9999"/>
                </a:solidFill>
                <a:latin typeface="Merriweather"/>
                <a:ea typeface="Merriweather"/>
                <a:cs typeface="Merriweather"/>
                <a:sym typeface="Merriweather"/>
              </a:rPr>
              <a:t>making</a:t>
            </a:r>
            <a:r>
              <a:rPr lang="en">
                <a:solidFill>
                  <a:srgbClr val="EA9999"/>
                </a:solidFill>
                <a:latin typeface="Merriweather"/>
                <a:ea typeface="Merriweather"/>
                <a:cs typeface="Merriweather"/>
                <a:sym typeface="Merriweather"/>
              </a:rPr>
              <a:t> the game I wanted to.  </a:t>
            </a:r>
            <a:endParaRPr>
              <a:solidFill>
                <a:srgbClr val="EA9999"/>
              </a:solidFill>
              <a:latin typeface="Merriweather"/>
              <a:ea typeface="Merriweather"/>
              <a:cs typeface="Merriweather"/>
              <a:sym typeface="Merriweather"/>
            </a:endParaRPr>
          </a:p>
          <a:p>
            <a:pPr indent="457200" lvl="0" marL="0" rtl="0" algn="l">
              <a:spcBef>
                <a:spcPts val="1200"/>
              </a:spcBef>
              <a:spcAft>
                <a:spcPts val="1200"/>
              </a:spcAft>
              <a:buNone/>
            </a:pPr>
            <a:r>
              <a:rPr lang="en">
                <a:solidFill>
                  <a:schemeClr val="lt1"/>
                </a:solidFill>
                <a:latin typeface="Merriweather"/>
                <a:ea typeface="Merriweather"/>
                <a:cs typeface="Merriweather"/>
                <a:sym typeface="Merriweather"/>
              </a:rPr>
              <a:t>Most of my issues were just that I wrote the wrong syntax or the wrong number and had to play </a:t>
            </a:r>
            <a:r>
              <a:rPr lang="en">
                <a:solidFill>
                  <a:schemeClr val="lt1"/>
                </a:solidFill>
                <a:latin typeface="Merriweather"/>
                <a:ea typeface="Merriweather"/>
                <a:cs typeface="Merriweather"/>
                <a:sym typeface="Merriweather"/>
              </a:rPr>
              <a:t>around</a:t>
            </a:r>
            <a:r>
              <a:rPr lang="en">
                <a:solidFill>
                  <a:schemeClr val="lt1"/>
                </a:solidFill>
                <a:latin typeface="Merriweather"/>
                <a:ea typeface="Merriweather"/>
                <a:cs typeface="Merriweather"/>
                <a:sym typeface="Merriweather"/>
              </a:rPr>
              <a:t> with them. Overall I learned a lot from this project and created a game that I thought was fun. </a:t>
            </a:r>
            <a:endParaRPr>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